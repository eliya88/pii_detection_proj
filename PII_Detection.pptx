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Presidio (REGEX)</c:v>
                  </c:pt>
                  <c:pt idx="1">
                    <c:v>DeBERTa-v3 (NER)</c:v>
                  </c:pt>
                  <c:pt idx="2">
                    <c:v>Gemini 2.5 Flash (LLM)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0.4211</c:v>
                </c:pt>
                <c:pt idx="1">
                  <c:v>0.9903</c:v>
                </c:pt>
                <c:pt idx="2">
                  <c:v>0.1764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Presidio (REGEX)</c:v>
                  </c:pt>
                  <c:pt idx="1">
                    <c:v>DeBERTa-v3 (NER)</c:v>
                  </c:pt>
                  <c:pt idx="2">
                    <c:v>Gemini 2.5 Flash (LLM)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0.4923</c:v>
                </c:pt>
                <c:pt idx="1">
                  <c:v>0.9895</c:v>
                </c:pt>
                <c:pt idx="2">
                  <c:v>0.2063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Presidio (REGEX)</c:v>
                  </c:pt>
                  <c:pt idx="1">
                    <c:v>DeBERTa-v3 (NER)</c:v>
                  </c:pt>
                  <c:pt idx="2">
                    <c:v>Gemini 2.5 Flash (LLM)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0.368</c:v>
                </c:pt>
                <c:pt idx="1">
                  <c:v>0.991</c:v>
                </c:pt>
                <c:pt idx="2">
                  <c:v>0.1541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Presidio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PERSON</c:v>
                  </c:pt>
                  <c:pt idx="1">
                    <c:v>EMAIL</c:v>
                  </c:pt>
                  <c:pt idx="2">
                    <c:v>PHONE</c:v>
                  </c:pt>
                  <c:pt idx="3">
                    <c:v>ADDRESS</c:v>
                  </c:pt>
                  <c:pt idx="4">
                    <c:v>URL</c:v>
                  </c:pt>
                  <c:pt idx="5">
                    <c:v>ID</c:v>
                  </c:pt>
                  <c:pt idx="6">
                    <c:v>USERNAME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0.4875</c:v>
                </c:pt>
                <c:pt idx="1">
                  <c:v>0</c:v>
                </c:pt>
                <c:pt idx="2">
                  <c:v>0.7219</c:v>
                </c:pt>
                <c:pt idx="3">
                  <c:v>0.3964</c:v>
                </c:pt>
                <c:pt idx="4">
                  <c:v>0.2048</c:v>
                </c:pt>
                <c:pt idx="5">
                  <c:v>0.4959</c:v>
                </c:pt>
                <c:pt idx="6">
                  <c:v>0.2895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DeBERTa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PERSON</c:v>
                  </c:pt>
                  <c:pt idx="1">
                    <c:v>EMAIL</c:v>
                  </c:pt>
                  <c:pt idx="2">
                    <c:v>PHONE</c:v>
                  </c:pt>
                  <c:pt idx="3">
                    <c:v>ADDRESS</c:v>
                  </c:pt>
                  <c:pt idx="4">
                    <c:v>URL</c:v>
                  </c:pt>
                  <c:pt idx="5">
                    <c:v>ID</c:v>
                  </c:pt>
                  <c:pt idx="6">
                    <c:v>USERNAME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0.994</c:v>
                </c:pt>
                <c:pt idx="1">
                  <c:v>0.9954</c:v>
                </c:pt>
                <c:pt idx="2">
                  <c:v>0.9727</c:v>
                </c:pt>
                <c:pt idx="3">
                  <c:v>0.9824</c:v>
                </c:pt>
                <c:pt idx="4">
                  <c:v>0.976</c:v>
                </c:pt>
                <c:pt idx="5">
                  <c:v>0.9724</c:v>
                </c:pt>
                <c:pt idx="6">
                  <c:v>0.9844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PERSON</c:v>
                  </c:pt>
                  <c:pt idx="1">
                    <c:v>EMAIL</c:v>
                  </c:pt>
                  <c:pt idx="2">
                    <c:v>PHONE</c:v>
                  </c:pt>
                  <c:pt idx="3">
                    <c:v>ADDRESS</c:v>
                  </c:pt>
                  <c:pt idx="4">
                    <c:v>URL</c:v>
                  </c:pt>
                  <c:pt idx="5">
                    <c:v>ID</c:v>
                  </c:pt>
                  <c:pt idx="6">
                    <c:v>USERNAME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0.2189</c:v>
                </c:pt>
                <c:pt idx="1">
                  <c:v>0.1637</c:v>
                </c:pt>
                <c:pt idx="2">
                  <c:v>0</c:v>
                </c:pt>
                <c:pt idx="3">
                  <c:v>0.068</c:v>
                </c:pt>
                <c:pt idx="4">
                  <c:v>0</c:v>
                </c:pt>
                <c:pt idx="5">
                  <c:v>0.0909</c:v>
                </c:pt>
                <c:pt idx="6">
                  <c:v>0.1212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in Text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Multiple Approaches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Rule-Based · Fine-Tuned NER · LLM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657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  ·  Eliya Ohayon  ·  Ido Aloya  ·  Omer Dweck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Ben-Gurion University of the Negev  ·  Data Science &amp; Big Data in Industry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PII?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Identifiable Information — any data that can identify an individual: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· Emails · Phone numbers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· URLs · IDs · Usernames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0233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data privacy compliance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users from identity theft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anonymising sensitive datasets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fundamentally different PII detection approaches on a unified benchmark dataset with 7 standardised entity types.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 (Presidio)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NER  (DeBERTa)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Prompting  (Gemini)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CRISP-DM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28016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435608"/>
            <a:ext cx="14630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PII detection as a token classification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92224" y="1005840"/>
            <a:ext cx="128016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2224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72384" y="1435608"/>
            <a:ext cx="14630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two public datasets: Kaggle essays + ai4privacy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12801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1435608"/>
            <a:ext cx="14630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labels → 7 types, reconstruct WordPiece tokens, stratified 80/10/10 split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5152" y="1005840"/>
            <a:ext cx="128016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25312" y="1435608"/>
            <a:ext cx="14630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models: Presidio, DeBERTa-v3, Gemini 2.5 Flash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1005840"/>
            <a:ext cx="1280160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51776" y="1435608"/>
            <a:ext cx="14630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seqeval entity-level F1, Precision, Recall, latency comparison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1005840"/>
            <a:ext cx="1280160" cy="10058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219456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pipeline with SLURM HPC training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Data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PII Data 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~22,000 student essays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BIO labels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competition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NAME_STUDENT, EMAIL, PHONE_NUM, STREET_ADDRESS, URL_PERSONAL, ID_NUM, USERNAME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228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ai4privacy PII43k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43,000 general text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WordPiece-tokenised BIO labels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HuggingFace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FULLNAME, GIVENNAME, PHONE, CITY, 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Label Schema  →  7 entity types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·  EMAIL  ·  PHONE  ·  ADDRESS  ·  URL  ·  ID  ·  USERNAME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1330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train = 37,661  ·  val = 4,707  ·  test = 4,710   (80 / 10 / 10 stratified by PII presence)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Presidio (Rule-Based / REGEX)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0292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Analyzer with spaCy NLP engine (en_core_web_lg)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regex pattern matching + NLP-based Named Entity Recognition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UsernameRecognizer for @handle patterns (confidence: 0.85)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25+ Presidio entity types to unified 7-label schema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required — deterministic, runs entirely on CPU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14 ms / 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60120"/>
            <a:ext cx="292608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703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PHONE (72%), ID (50%)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EMAIL (0%) — no regex match in config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DeBERTa-v3 (Fine-Tuned NER)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0292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microsoft/deberta-v3-base — pre-trained on 2.5B tokens (DeBERTa-v3)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token classification head: 15 BIO labels (B/I × 7 types + O)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37,661 training records with HuggingFace Trainer API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batch=16, grad_accum=2, lr=2e-5, 10 epochs, fp16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BGU HPC cluster — RTX 3090 24GB — ~2.85 hours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(patience=3) — best model saved at epoch 8 (val F1 = 98.77%)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60120"/>
            <a:ext cx="292608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99.03%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703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across ALL 7 entity types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97% on every category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Gemini 2.5 Flash (LLM Prompting)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0292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API — zero training, zero GPU cost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prompting: system instruction + 5 in-context examples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JSON array of {type, start, end} character spans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converted to BIO labels for evaluation with seqeval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500 sampled test records (cost control)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API cost: ~$0.04 for 500 records  ·  Latency: 2,196 ms/record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960120"/>
            <a:ext cx="2926080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2,196 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703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F1 due to strict span-boundary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not conceptual failure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Overall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60120"/>
          <a:ext cx="2880360" cy="2011680"/>
        </p:xfrm>
        <a:graphic>
          <a:graphicData uri="http://schemas.openxmlformats.org/drawingml/2006/table">
            <a:tbl>
              <a:tblPr/>
              <a:tblGrid>
                <a:gridCol w="1234440"/>
                <a:gridCol w="411480"/>
                <a:gridCol w="411480"/>
                <a:gridCol w="411480"/>
                <a:gridCol w="411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Presidio (REGEX)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DeBERTa-v3 (NER)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2,196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Per-Entity F1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200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7840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dominates — fine-tuning on labeled data is unbeatable for structured NLP tasks (F1 = 99%)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200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excels at structured PII (PHONE 72%, ID 50%) but fails on EMAIL (0%) — rule coverage limitation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32004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3288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low F1 is partly due to strict seqeval span-boundary matching — conceptually it detects PII well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320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012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accuracy tradeoff: Presidio fastest (14 ms), DeBERTa most accurate, Gemini slowest &amp; costliest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3200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8736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recommendation: DeBERTa for accuracy-critical systems, Presidio for zero-training low-latency needs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57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Eliya Ohayon  ·  Ido Aloya  ·  Omer Dweck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Ben-Gurion University of the Negev  ·  Data Science &amp; Big Data in Industry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available on GitHub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PII Detection in Text Using Multiple Approaches</dc:title>
  <dc:subject>PptxGenJS Presentation</dc:subject>
  <dc:creator>PptxGenJS</dc:creator>
  <cp:lastModifiedBy>PptxGenJS</cp:lastModifiedBy>
  <cp:revision>1</cp:revision>
  <dcterms:created xsi:type="dcterms:W3CDTF">2026-06-06T17:50:04Z</dcterms:created>
  <dcterms:modified xsi:type="dcterms:W3CDTF">2026-06-06T17:50:04Z</dcterms:modified>
</cp:coreProperties>
</file>